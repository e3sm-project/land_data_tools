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2801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7922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F497D"/>
                </a:solidFill>
              </a:rPr>
              <a:t>landgen – Code Structure Flowchart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" y="640080"/>
            <a:ext cx="2011680" cy="274320"/>
          </a:xfrm>
          <a:prstGeom prst="roundRect">
            <a:avLst/>
          </a:prstGeom>
          <a:solidFill>
            <a:srgbClr val="1F497D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Entry point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77440" y="640080"/>
            <a:ext cx="2011680" cy="274320"/>
          </a:xfrm>
          <a:prstGeom prst="roundRect">
            <a:avLst/>
          </a:prstGeom>
          <a:solidFill>
            <a:srgbClr val="2E75B6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Core orchestration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640080"/>
            <a:ext cx="2011680" cy="274320"/>
          </a:xfrm>
          <a:prstGeom prst="roundRect">
            <a:avLst/>
          </a:prstGeom>
          <a:solidFill>
            <a:srgbClr val="70AD47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Top-level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59" y="640080"/>
            <a:ext cx="2011680" cy="274320"/>
          </a:xfrm>
          <a:prstGeom prst="roundRect">
            <a:avLst/>
          </a:prstGeom>
          <a:solidFill>
            <a:srgbClr val="FFC000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Sub-step (sequential)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640080"/>
            <a:ext cx="2011680" cy="274320"/>
          </a:xfrm>
          <a:prstGeom prst="roundRect">
            <a:avLst/>
          </a:prstGeom>
          <a:solidFill>
            <a:srgbClr val="C0504D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Parallel worker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155680" y="640080"/>
            <a:ext cx="2011680" cy="274320"/>
          </a:xfrm>
          <a:prstGeom prst="roundRect">
            <a:avLst/>
          </a:prstGeom>
          <a:solidFill>
            <a:srgbClr val="ED7D31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I/O utility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350239" y="640080"/>
            <a:ext cx="2011680" cy="274320"/>
          </a:xfrm>
          <a:prstGeom prst="roundRect">
            <a:avLst/>
          </a:prstGeom>
          <a:solidFill>
            <a:srgbClr val="7B0EA8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Shared data structure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0" y="640080"/>
            <a:ext cx="2011680" cy="274320"/>
          </a:xfrm>
          <a:prstGeom prst="roundRect">
            <a:avLst/>
          </a:prstGeom>
          <a:solidFill>
            <a:srgbClr val="A5A5A5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Not yet implemented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097280"/>
            <a:ext cx="2560320" cy="411480"/>
          </a:xfrm>
          <a:prstGeom prst="roundRect">
            <a:avLst/>
          </a:prstGeom>
          <a:solidFill>
            <a:srgbClr val="1F497D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__main__.py
python -m landgen &lt;config.json&gt;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887200" y="1097280"/>
            <a:ext cx="2011680" cy="411480"/>
          </a:xfrm>
          <a:prstGeom prst="roundRect">
            <a:avLst/>
          </a:prstGeom>
          <a:solidFill>
            <a:srgbClr val="ED7D31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config.json
(start/end year, paths, modules)</a:t>
            </a:r>
          </a:p>
        </p:txBody>
      </p:sp>
      <p:cxnSp>
        <p:nvCxnSpPr>
          <p:cNvPr id="13" name="Arrow 13"/>
          <p:cNvCxnSpPr/>
          <p:nvPr/>
        </p:nvCxnSpPr>
        <p:spPr>
          <a:xfrm flipH="1">
            <a:off x="10881360" y="1303020"/>
            <a:ext cx="1005840" cy="1"/>
          </a:xfrm>
          <a:prstGeom prst="line">
            <a:avLst/>
          </a:prstGeom>
          <a:ln w="19050">
            <a:solidFill>
              <a:srgbClr val="404040"/>
            </a:solidFill>
            <a:tailEnd type="arrow" w="med" len="med"/>
          </a:ln>
        </p:spPr>
      </p:cxnSp>
      <p:sp>
        <p:nvSpPr>
          <p:cNvPr id="14" name="TextBox 13"/>
          <p:cNvSpPr txBox="1"/>
          <p:nvPr/>
        </p:nvSpPr>
        <p:spPr>
          <a:xfrm>
            <a:off x="11384280" y="1193292"/>
            <a:ext cx="822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404040"/>
                </a:solidFill>
              </a:rPr>
              <a:t>reads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2011680"/>
            <a:ext cx="3474720" cy="411480"/>
          </a:xfrm>
          <a:prstGeom prst="roundRect">
            <a:avLst/>
          </a:prstGeom>
          <a:solidFill>
            <a:srgbClr val="2E75B6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landgen.py  ·  main(config_path)
Load config · start mp.Manager · create GridData
Loop modules → importlib.import_module(name).run()</a:t>
            </a:r>
          </a:p>
        </p:txBody>
      </p:sp>
      <p:cxnSp>
        <p:nvCxnSpPr>
          <p:cNvPr id="16" name="Arrow 16"/>
          <p:cNvCxnSpPr/>
          <p:nvPr/>
        </p:nvCxnSpPr>
        <p:spPr>
          <a:xfrm>
            <a:off x="9601200" y="1508760"/>
            <a:ext cx="1" cy="502920"/>
          </a:xfrm>
          <a:prstGeom prst="line">
            <a:avLst/>
          </a:prstGeom>
          <a:ln w="19050">
            <a:solidFill>
              <a:srgbClr val="404040"/>
            </a:solidFill>
            <a:tailEnd type="arrow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12618720" y="2011680"/>
            <a:ext cx="5303520" cy="1234440"/>
          </a:xfrm>
          <a:prstGeom prst="roundRect">
            <a:avLst/>
          </a:prstGeom>
          <a:solidFill>
            <a:srgbClr val="7B0EA8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FFFFFF"/>
                </a:solidFill>
              </a:rPr>
              <a:t>shared_data.py  –  Multiprocessing shared structures
GridData / GridManager  (cell ids, lon/lat, landfrac)
TopoData / TopoManager  (elevation, slope, fmax …)
LtData  / LtManager     (pct_pft, harvest_frac, …)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11338560" y="2217420"/>
            <a:ext cx="1280160" cy="411480"/>
          </a:xfrm>
          <a:prstGeom prst="line">
            <a:avLst/>
          </a:prstGeom>
          <a:ln w="19050">
            <a:solidFill>
              <a:srgbClr val="404040"/>
            </a:solidFill>
            <a:tailEnd type="arrow" w="med" len="med"/>
          </a:ln>
        </p:spPr>
      </p:cxnSp>
      <p:sp>
        <p:nvSpPr>
          <p:cNvPr id="19" name="TextBox 18"/>
          <p:cNvSpPr txBox="1"/>
          <p:nvPr/>
        </p:nvSpPr>
        <p:spPr>
          <a:xfrm>
            <a:off x="11978640" y="2313432"/>
            <a:ext cx="822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404040"/>
                </a:solidFill>
              </a:rPr>
              <a:t>uses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794760"/>
            <a:ext cx="3108960" cy="777240"/>
          </a:xfrm>
          <a:prstGeom prst="roundRect">
            <a:avLst/>
          </a:prstGeom>
          <a:solidFill>
            <a:srgbClr val="70AD47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topography.py
run()
[must run first;
sets landfrac]</a:t>
            </a:r>
          </a:p>
        </p:txBody>
      </p:sp>
      <p:cxnSp>
        <p:nvCxnSpPr>
          <p:cNvPr id="21" name="Arrow 21"/>
          <p:cNvCxnSpPr/>
          <p:nvPr/>
        </p:nvCxnSpPr>
        <p:spPr>
          <a:xfrm flipH="1">
            <a:off x="2286000" y="2423160"/>
            <a:ext cx="7315200" cy="1371600"/>
          </a:xfrm>
          <a:prstGeom prst="line">
            <a:avLst/>
          </a:prstGeom>
          <a:ln w="19050">
            <a:solidFill>
              <a:srgbClr val="404040"/>
            </a:solidFill>
            <a:tailEnd type="arrow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4160520" y="3794760"/>
            <a:ext cx="3108960" cy="777240"/>
          </a:xfrm>
          <a:prstGeom prst="roundRect">
            <a:avLst/>
          </a:prstGeom>
          <a:solidFill>
            <a:srgbClr val="70AD47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land_type.py
run()
[main land-type
orchestrator]</a:t>
            </a:r>
          </a:p>
        </p:txBody>
      </p:sp>
      <p:cxnSp>
        <p:nvCxnSpPr>
          <p:cNvPr id="23" name="Arrow 23"/>
          <p:cNvCxnSpPr/>
          <p:nvPr/>
        </p:nvCxnSpPr>
        <p:spPr>
          <a:xfrm flipH="1">
            <a:off x="5715000" y="2423160"/>
            <a:ext cx="3886200" cy="1371600"/>
          </a:xfrm>
          <a:prstGeom prst="line">
            <a:avLst/>
          </a:prstGeom>
          <a:ln w="19050">
            <a:solidFill>
              <a:srgbClr val="404040"/>
            </a:solidFill>
            <a:tailEnd type="arrow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7589520" y="3794760"/>
            <a:ext cx="3108960" cy="777240"/>
          </a:xfrm>
          <a:prstGeom prst="roundRect">
            <a:avLst/>
          </a:prstGeom>
          <a:solidFill>
            <a:srgbClr val="70AD47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atmosphere.py
run()
[ndep, pdep,
lightning]</a:t>
            </a:r>
          </a:p>
        </p:txBody>
      </p:sp>
      <p:cxnSp>
        <p:nvCxnSpPr>
          <p:cNvPr id="25" name="Arrow 25"/>
          <p:cNvCxnSpPr/>
          <p:nvPr/>
        </p:nvCxnSpPr>
        <p:spPr>
          <a:xfrm flipH="1">
            <a:off x="9144000" y="2423160"/>
            <a:ext cx="457200" cy="1371600"/>
          </a:xfrm>
          <a:prstGeom prst="line">
            <a:avLst/>
          </a:prstGeom>
          <a:ln w="19050">
            <a:solidFill>
              <a:srgbClr val="404040"/>
            </a:solidFill>
            <a:tailEnd type="arrow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11018520" y="3794760"/>
            <a:ext cx="3108960" cy="777240"/>
          </a:xfrm>
          <a:prstGeom prst="roundRect">
            <a:avLst/>
          </a:prstGeom>
          <a:solidFill>
            <a:srgbClr val="70AD47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soil.py
run()
[soil texture,
organic matter]</a:t>
            </a:r>
          </a:p>
        </p:txBody>
      </p:sp>
      <p:cxnSp>
        <p:nvCxnSpPr>
          <p:cNvPr id="27" name="Arrow 27"/>
          <p:cNvCxnSpPr/>
          <p:nvPr/>
        </p:nvCxnSpPr>
        <p:spPr>
          <a:xfrm>
            <a:off x="9601200" y="2423160"/>
            <a:ext cx="2971800" cy="1371600"/>
          </a:xfrm>
          <a:prstGeom prst="line">
            <a:avLst/>
          </a:prstGeom>
          <a:ln w="19050">
            <a:solidFill>
              <a:srgbClr val="404040"/>
            </a:solidFill>
            <a:tailEnd type="arrow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14447520" y="3794760"/>
            <a:ext cx="3108960" cy="777240"/>
          </a:xfrm>
          <a:prstGeom prst="roundRect">
            <a:avLst/>
          </a:prstGeom>
          <a:solidFill>
            <a:srgbClr val="70AD47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human.py
run()
[population,
GDP]</a:t>
            </a:r>
          </a:p>
        </p:txBody>
      </p:sp>
      <p:cxnSp>
        <p:nvCxnSpPr>
          <p:cNvPr id="29" name="Arrow 29"/>
          <p:cNvCxnSpPr/>
          <p:nvPr/>
        </p:nvCxnSpPr>
        <p:spPr>
          <a:xfrm>
            <a:off x="9601200" y="2423160"/>
            <a:ext cx="6400800" cy="1371600"/>
          </a:xfrm>
          <a:prstGeom prst="line">
            <a:avLst/>
          </a:prstGeom>
          <a:ln w="19050">
            <a:solidFill>
              <a:srgbClr val="404040"/>
            </a:solidFill>
            <a:tailEnd type="arrow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4160520" y="5074920"/>
            <a:ext cx="3108960" cy="411480"/>
          </a:xfrm>
          <a:prstGeom prst="roundRect">
            <a:avLst/>
          </a:prstGeom>
          <a:solidFill>
            <a:srgbClr val="2E75B6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Loop years (start_year → end_year)
_process_single_year(year, …)</a:t>
            </a:r>
          </a:p>
        </p:txBody>
      </p:sp>
      <p:cxnSp>
        <p:nvCxnSpPr>
          <p:cNvPr id="31" name="Arrow 31"/>
          <p:cNvCxnSpPr/>
          <p:nvPr/>
        </p:nvCxnSpPr>
        <p:spPr>
          <a:xfrm>
            <a:off x="5715000" y="4572000"/>
            <a:ext cx="1" cy="502920"/>
          </a:xfrm>
          <a:prstGeom prst="line">
            <a:avLst/>
          </a:prstGeom>
          <a:ln w="19050">
            <a:solidFill>
              <a:srgbClr val="404040"/>
            </a:solidFill>
            <a:tailEnd type="arrow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256032" y="5897880"/>
            <a:ext cx="1828800" cy="685800"/>
          </a:xfrm>
          <a:prstGeom prst="roundRect">
            <a:avLst/>
          </a:prstGeom>
          <a:solidFill>
            <a:srgbClr val="FFC000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landcover.py
run() → landcover_
process() [parallel]</a:t>
            </a:r>
          </a:p>
        </p:txBody>
      </p:sp>
      <p:cxnSp>
        <p:nvCxnSpPr>
          <p:cNvPr id="33" name="Arrow 33"/>
          <p:cNvCxnSpPr/>
          <p:nvPr/>
        </p:nvCxnSpPr>
        <p:spPr>
          <a:xfrm flipH="1">
            <a:off x="1170432" y="5486400"/>
            <a:ext cx="4544568" cy="411480"/>
          </a:xfrm>
          <a:prstGeom prst="line">
            <a:avLst/>
          </a:prstGeom>
          <a:ln w="19050">
            <a:solidFill>
              <a:srgbClr val="404040"/>
            </a:solidFill>
            <a:tailEnd type="arrow" w="med" len="med"/>
          </a:ln>
        </p:spPr>
      </p:cxnSp>
      <p:sp>
        <p:nvSpPr>
          <p:cNvPr id="34" name="Rounded Rectangle 33"/>
          <p:cNvSpPr/>
          <p:nvPr/>
        </p:nvSpPr>
        <p:spPr>
          <a:xfrm>
            <a:off x="2249424" y="5897880"/>
            <a:ext cx="1828800" cy="685800"/>
          </a:xfrm>
          <a:prstGeom prst="roundRect">
            <a:avLst/>
          </a:prstGeom>
          <a:solidFill>
            <a:srgbClr val="A5A5A5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crop.py
run()
[not yet impl.]</a:t>
            </a:r>
          </a:p>
        </p:txBody>
      </p:sp>
      <p:cxnSp>
        <p:nvCxnSpPr>
          <p:cNvPr id="35" name="Arrow 35"/>
          <p:cNvCxnSpPr/>
          <p:nvPr/>
        </p:nvCxnSpPr>
        <p:spPr>
          <a:xfrm flipH="1">
            <a:off x="3163824" y="5486400"/>
            <a:ext cx="2551176" cy="411480"/>
          </a:xfrm>
          <a:prstGeom prst="line">
            <a:avLst/>
          </a:prstGeom>
          <a:ln w="19050">
            <a:solidFill>
              <a:srgbClr val="404040"/>
            </a:solidFill>
            <a:tailEnd type="arrow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4242816" y="5897880"/>
            <a:ext cx="1828800" cy="685800"/>
          </a:xfrm>
          <a:prstGeom prst="roundRect">
            <a:avLst/>
          </a:prstGeom>
          <a:solidFill>
            <a:srgbClr val="A5A5A5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urban.py
run()
[not yet impl.]</a:t>
            </a:r>
          </a:p>
        </p:txBody>
      </p:sp>
      <p:cxnSp>
        <p:nvCxnSpPr>
          <p:cNvPr id="37" name="Arrow 37"/>
          <p:cNvCxnSpPr/>
          <p:nvPr/>
        </p:nvCxnSpPr>
        <p:spPr>
          <a:xfrm flipH="1">
            <a:off x="5157216" y="5486400"/>
            <a:ext cx="557784" cy="411480"/>
          </a:xfrm>
          <a:prstGeom prst="line">
            <a:avLst/>
          </a:prstGeom>
          <a:ln w="19050">
            <a:solidFill>
              <a:srgbClr val="404040"/>
            </a:solidFill>
            <a:tailEnd type="arrow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6236208" y="5897880"/>
            <a:ext cx="1828800" cy="685800"/>
          </a:xfrm>
          <a:prstGeom prst="roundRect">
            <a:avLst/>
          </a:prstGeom>
          <a:solidFill>
            <a:srgbClr val="A5A5A5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lake.py
run()
[not yet impl.]</a:t>
            </a:r>
          </a:p>
        </p:txBody>
      </p:sp>
      <p:cxnSp>
        <p:nvCxnSpPr>
          <p:cNvPr id="39" name="Arrow 39"/>
          <p:cNvCxnSpPr/>
          <p:nvPr/>
        </p:nvCxnSpPr>
        <p:spPr>
          <a:xfrm>
            <a:off x="5715000" y="5486400"/>
            <a:ext cx="1435608" cy="411480"/>
          </a:xfrm>
          <a:prstGeom prst="line">
            <a:avLst/>
          </a:prstGeom>
          <a:ln w="19050">
            <a:solidFill>
              <a:srgbClr val="404040"/>
            </a:solidFill>
            <a:tailEnd type="arrow" w="med" len="med"/>
          </a:ln>
        </p:spPr>
      </p:cxnSp>
      <p:sp>
        <p:nvSpPr>
          <p:cNvPr id="40" name="Rounded Rectangle 39"/>
          <p:cNvSpPr/>
          <p:nvPr/>
        </p:nvSpPr>
        <p:spPr>
          <a:xfrm>
            <a:off x="8229600" y="5897880"/>
            <a:ext cx="1828800" cy="685800"/>
          </a:xfrm>
          <a:prstGeom prst="roundRect">
            <a:avLst/>
          </a:prstGeom>
          <a:solidFill>
            <a:srgbClr val="A5A5A5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ice.py
run()
[not yet impl.]</a:t>
            </a:r>
          </a:p>
        </p:txBody>
      </p:sp>
      <p:cxnSp>
        <p:nvCxnSpPr>
          <p:cNvPr id="41" name="Arrow 41"/>
          <p:cNvCxnSpPr/>
          <p:nvPr/>
        </p:nvCxnSpPr>
        <p:spPr>
          <a:xfrm>
            <a:off x="5715000" y="5486400"/>
            <a:ext cx="3429000" cy="411480"/>
          </a:xfrm>
          <a:prstGeom prst="line">
            <a:avLst/>
          </a:prstGeom>
          <a:ln w="19050">
            <a:solidFill>
              <a:srgbClr val="404040"/>
            </a:solidFill>
            <a:tailEnd type="arrow" w="med" len="med"/>
          </a:ln>
        </p:spPr>
      </p:cxnSp>
      <p:sp>
        <p:nvSpPr>
          <p:cNvPr id="42" name="Rounded Rectangle 41"/>
          <p:cNvSpPr/>
          <p:nvPr/>
        </p:nvSpPr>
        <p:spPr>
          <a:xfrm>
            <a:off x="10222992" y="5897880"/>
            <a:ext cx="1828800" cy="685800"/>
          </a:xfrm>
          <a:prstGeom prst="roundRect">
            <a:avLst/>
          </a:prstGeom>
          <a:solidFill>
            <a:srgbClr val="FFC000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harvest.py
run() → harvest_
process() [parallel]</a:t>
            </a:r>
          </a:p>
        </p:txBody>
      </p:sp>
      <p:cxnSp>
        <p:nvCxnSpPr>
          <p:cNvPr id="43" name="Arrow 43"/>
          <p:cNvCxnSpPr/>
          <p:nvPr/>
        </p:nvCxnSpPr>
        <p:spPr>
          <a:xfrm>
            <a:off x="5715000" y="5486400"/>
            <a:ext cx="5422392" cy="411480"/>
          </a:xfrm>
          <a:prstGeom prst="line">
            <a:avLst/>
          </a:prstGeom>
          <a:ln w="19050">
            <a:solidFill>
              <a:srgbClr val="404040"/>
            </a:solidFill>
            <a:tailEnd type="arrow" w="med" len="med"/>
          </a:ln>
        </p:spPr>
      </p:cxnSp>
      <p:sp>
        <p:nvSpPr>
          <p:cNvPr id="44" name="Rounded Rectangle 43"/>
          <p:cNvSpPr/>
          <p:nvPr/>
        </p:nvSpPr>
        <p:spPr>
          <a:xfrm>
            <a:off x="12216384" y="5897880"/>
            <a:ext cx="1828800" cy="685800"/>
          </a:xfrm>
          <a:prstGeom prst="roundRect">
            <a:avLst/>
          </a:prstGeom>
          <a:solidFill>
            <a:srgbClr val="A5A5A5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normalize_cell
fill_land +
reconcile_ocean</a:t>
            </a:r>
          </a:p>
        </p:txBody>
      </p:sp>
      <p:cxnSp>
        <p:nvCxnSpPr>
          <p:cNvPr id="45" name="Arrow 45"/>
          <p:cNvCxnSpPr/>
          <p:nvPr/>
        </p:nvCxnSpPr>
        <p:spPr>
          <a:xfrm>
            <a:off x="5715000" y="5486400"/>
            <a:ext cx="7415784" cy="411480"/>
          </a:xfrm>
          <a:prstGeom prst="line">
            <a:avLst/>
          </a:prstGeom>
          <a:ln w="19050">
            <a:solidFill>
              <a:srgbClr val="404040"/>
            </a:solidFill>
            <a:tailEnd type="arrow" w="med" len="med"/>
          </a:ln>
        </p:spPr>
      </p:cxnSp>
      <p:sp>
        <p:nvSpPr>
          <p:cNvPr id="46" name="Rounded Rectangle 45"/>
          <p:cNvSpPr/>
          <p:nvPr/>
        </p:nvSpPr>
        <p:spPr>
          <a:xfrm>
            <a:off x="14209776" y="5897880"/>
            <a:ext cx="1828800" cy="685800"/>
          </a:xfrm>
          <a:prstGeom prst="roundRect">
            <a:avLst/>
          </a:prstGeom>
          <a:solidFill>
            <a:srgbClr val="A5A5A5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veg_assoc.py
run()
[not yet impl.]</a:t>
            </a:r>
          </a:p>
        </p:txBody>
      </p:sp>
      <p:cxnSp>
        <p:nvCxnSpPr>
          <p:cNvPr id="47" name="Arrow 47"/>
          <p:cNvCxnSpPr/>
          <p:nvPr/>
        </p:nvCxnSpPr>
        <p:spPr>
          <a:xfrm>
            <a:off x="5715000" y="5486400"/>
            <a:ext cx="9409176" cy="411480"/>
          </a:xfrm>
          <a:prstGeom prst="line">
            <a:avLst/>
          </a:prstGeom>
          <a:ln w="19050">
            <a:solidFill>
              <a:srgbClr val="404040"/>
            </a:solidFill>
            <a:tailEnd type="arrow" w="med" len="med"/>
          </a:ln>
        </p:spPr>
      </p:cxnSp>
      <p:sp>
        <p:nvSpPr>
          <p:cNvPr id="48" name="Rounded Rectangle 47"/>
          <p:cNvSpPr/>
          <p:nvPr/>
        </p:nvSpPr>
        <p:spPr>
          <a:xfrm>
            <a:off x="16203168" y="5897880"/>
            <a:ext cx="1828800" cy="685800"/>
          </a:xfrm>
          <a:prstGeom prst="roundRect">
            <a:avLst/>
          </a:prstGeom>
          <a:solidFill>
            <a:srgbClr val="A5A5A5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consistency.py
run()
[not yet impl.]</a:t>
            </a:r>
          </a:p>
        </p:txBody>
      </p:sp>
      <p:cxnSp>
        <p:nvCxnSpPr>
          <p:cNvPr id="49" name="Arrow 49"/>
          <p:cNvCxnSpPr/>
          <p:nvPr/>
        </p:nvCxnSpPr>
        <p:spPr>
          <a:xfrm>
            <a:off x="5715000" y="5486400"/>
            <a:ext cx="11402568" cy="411480"/>
          </a:xfrm>
          <a:prstGeom prst="line">
            <a:avLst/>
          </a:prstGeom>
          <a:ln w="19050">
            <a:solidFill>
              <a:srgbClr val="404040"/>
            </a:solidFill>
            <a:tailEnd type="arrow" w="med" len="med"/>
          </a:ln>
        </p:spPr>
      </p:cxnSp>
      <p:sp>
        <p:nvSpPr>
          <p:cNvPr id="50" name="Rounded Rectangle 49"/>
          <p:cNvSpPr/>
          <p:nvPr/>
        </p:nvSpPr>
        <p:spPr>
          <a:xfrm>
            <a:off x="256032" y="6995160"/>
            <a:ext cx="1828800" cy="868680"/>
          </a:xfrm>
          <a:prstGeom prst="roundRect">
            <a:avLst/>
          </a:prstGeom>
          <a:solidFill>
            <a:srgbClr val="C0504D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landcover_process()
· read MODIS / transitions
· regrid (uraster)
· split PFTs
· write → LtData</a:t>
            </a:r>
          </a:p>
        </p:txBody>
      </p:sp>
      <p:cxnSp>
        <p:nvCxnSpPr>
          <p:cNvPr id="51" name="Arrow 51"/>
          <p:cNvCxnSpPr/>
          <p:nvPr/>
        </p:nvCxnSpPr>
        <p:spPr>
          <a:xfrm>
            <a:off x="1170432" y="6583680"/>
            <a:ext cx="1" cy="411480"/>
          </a:xfrm>
          <a:prstGeom prst="line">
            <a:avLst/>
          </a:prstGeom>
          <a:ln w="19050">
            <a:solidFill>
              <a:srgbClr val="404040"/>
            </a:solidFill>
            <a:tailEnd type="arrow" w="med" len="med"/>
          </a:ln>
        </p:spPr>
      </p:cxnSp>
      <p:sp>
        <p:nvSpPr>
          <p:cNvPr id="52" name="Rounded Rectangle 51"/>
          <p:cNvSpPr/>
          <p:nvPr/>
        </p:nvSpPr>
        <p:spPr>
          <a:xfrm>
            <a:off x="10222992" y="6995160"/>
            <a:ext cx="1828800" cy="868680"/>
          </a:xfrm>
          <a:prstGeom prst="roundRect">
            <a:avLst/>
          </a:prstGeom>
          <a:solidFill>
            <a:srgbClr val="C0504D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harvest_process()
· read LUH2 harvest
· read HYDE grazing
· regrid (uraster)
· write → LtData</a:t>
            </a:r>
          </a:p>
        </p:txBody>
      </p:sp>
      <p:cxnSp>
        <p:nvCxnSpPr>
          <p:cNvPr id="53" name="Arrow 53"/>
          <p:cNvCxnSpPr/>
          <p:nvPr/>
        </p:nvCxnSpPr>
        <p:spPr>
          <a:xfrm>
            <a:off x="11137392" y="6583680"/>
            <a:ext cx="1" cy="411480"/>
          </a:xfrm>
          <a:prstGeom prst="line">
            <a:avLst/>
          </a:prstGeom>
          <a:ln w="19050">
            <a:solidFill>
              <a:srgbClr val="404040"/>
            </a:solidFill>
            <a:tailEnd type="arrow" w="med" len="med"/>
          </a:ln>
        </p:spPr>
      </p:cxnSp>
      <p:sp>
        <p:nvSpPr>
          <p:cNvPr id="54" name="Rounded Rectangle 53"/>
          <p:cNvSpPr/>
          <p:nvPr/>
        </p:nvSpPr>
        <p:spPr>
          <a:xfrm>
            <a:off x="1234440" y="8275320"/>
            <a:ext cx="3017520" cy="777240"/>
          </a:xfrm>
          <a:prstGeom prst="roundRect">
            <a:avLst/>
          </a:prstGeom>
          <a:solidFill>
            <a:srgbClr val="ED7D31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read_luh2_harvest()
LUH2 transitions.nc
→ harvest arrays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434840" y="8275320"/>
            <a:ext cx="3017520" cy="777240"/>
          </a:xfrm>
          <a:prstGeom prst="roundRect">
            <a:avLst/>
          </a:prstGeom>
          <a:solidFill>
            <a:srgbClr val="ED7D31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read_hyde_grazing()
HYDE3.5 .nc files
→ grazing arrays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635240" y="8275320"/>
            <a:ext cx="3017520" cy="777240"/>
          </a:xfrm>
          <a:prstGeom prst="roundRect">
            <a:avLst/>
          </a:prstGeom>
          <a:solidFill>
            <a:srgbClr val="ED7D31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write_latlon_to_geotiff()
2D lat-lon slice
→ GeoTIFF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835640" y="8275320"/>
            <a:ext cx="3017520" cy="777240"/>
          </a:xfrm>
          <a:prstGeom prst="roundRect">
            <a:avLst/>
          </a:prstGeom>
          <a:solidFill>
            <a:srgbClr val="ED7D31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write_chunk_mesh_
to_geojson()
HEALPix cells → GeoJSON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036040" y="8275320"/>
            <a:ext cx="3017520" cy="777240"/>
          </a:xfrm>
          <a:prstGeom prst="roundRect">
            <a:avLst/>
          </a:prstGeom>
          <a:solidFill>
            <a:srgbClr val="ED7D31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FFFFFF"/>
                </a:solidFill>
              </a:rPr>
              <a:t>regrid_to_landgen_
grid()
GeoTIFF + GeoJSON
→ URaster → 1D array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3000" y="800100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D7D31"/>
                </a:solidFill>
              </a:rPr>
              <a:t>landgen_io.py  –  I/O utilities</a:t>
            </a:r>
          </a:p>
        </p:txBody>
      </p:sp>
      <p:cxnSp>
        <p:nvCxnSpPr>
          <p:cNvPr id="60" name="Arrow 60"/>
          <p:cNvCxnSpPr/>
          <p:nvPr/>
        </p:nvCxnSpPr>
        <p:spPr>
          <a:xfrm>
            <a:off x="1170432" y="7863840"/>
            <a:ext cx="7607808" cy="411480"/>
          </a:xfrm>
          <a:prstGeom prst="line">
            <a:avLst/>
          </a:prstGeom>
          <a:ln w="19050">
            <a:solidFill>
              <a:srgbClr val="404040"/>
            </a:solidFill>
            <a:tailEnd type="arrow" w="med" len="med"/>
          </a:ln>
        </p:spPr>
      </p:cxnSp>
      <p:cxnSp>
        <p:nvCxnSpPr>
          <p:cNvPr id="61" name="Arrow 61"/>
          <p:cNvCxnSpPr/>
          <p:nvPr/>
        </p:nvCxnSpPr>
        <p:spPr>
          <a:xfrm flipH="1">
            <a:off x="8778240" y="7863840"/>
            <a:ext cx="2359152" cy="411480"/>
          </a:xfrm>
          <a:prstGeom prst="line">
            <a:avLst/>
          </a:prstGeom>
          <a:ln w="19050">
            <a:solidFill>
              <a:srgbClr val="404040"/>
            </a:solidFill>
            <a:tailEnd type="arrow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