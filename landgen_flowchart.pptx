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8288000" cy="12801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792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1F497D"/>
                </a:solidFill>
              </a:rPr>
              <a:t>landgen – Code Structure Flowchart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640080"/>
            <a:ext cx="2011680" cy="502920"/>
          </a:xfrm>
          <a:prstGeom prst="roundRect">
            <a:avLst/>
          </a:prstGeom>
          <a:solidFill>
            <a:srgbClr val="1F497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Entry point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640080"/>
            <a:ext cx="2011680" cy="502920"/>
          </a:xfrm>
          <a:prstGeom prst="round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Core orchestration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640080"/>
            <a:ext cx="2011680" cy="502920"/>
          </a:xfrm>
          <a:prstGeom prst="roundRect">
            <a:avLst/>
          </a:prstGeom>
          <a:solidFill>
            <a:srgbClr val="70AD47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Top-level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59" y="640080"/>
            <a:ext cx="2011680" cy="502920"/>
          </a:xfrm>
          <a:prstGeom prst="roundRect">
            <a:avLst/>
          </a:prstGeom>
          <a:solidFill>
            <a:srgbClr val="FFC00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Sub-step (sequential)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640080"/>
            <a:ext cx="2011680" cy="502920"/>
          </a:xfrm>
          <a:prstGeom prst="roundRect">
            <a:avLst/>
          </a:prstGeom>
          <a:solidFill>
            <a:srgbClr val="C0504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Parallel worker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155680" y="640080"/>
            <a:ext cx="2011680" cy="502920"/>
          </a:xfrm>
          <a:prstGeom prst="roundRect">
            <a:avLst/>
          </a:prstGeom>
          <a:solidFill>
            <a:srgbClr val="ED7D31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I/O utility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350239" y="640080"/>
            <a:ext cx="2011680" cy="502920"/>
          </a:xfrm>
          <a:prstGeom prst="roundRect">
            <a:avLst/>
          </a:prstGeom>
          <a:solidFill>
            <a:srgbClr val="7B0EA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Shared data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0" y="640080"/>
            <a:ext cx="2011680" cy="502920"/>
          </a:xfrm>
          <a:prstGeom prst="roundRect">
            <a:avLst/>
          </a:prstGeom>
          <a:solidFill>
            <a:srgbClr val="A5A5A5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Not yet implemented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371600"/>
            <a:ext cx="3931920" cy="868680"/>
          </a:xfrm>
          <a:prstGeom prst="roundRect">
            <a:avLst/>
          </a:prstGeom>
          <a:solidFill>
            <a:srgbClr val="1F497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__main__.py
python -m landgen &lt;config.json&gt;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161520" y="1371600"/>
            <a:ext cx="2834640" cy="868680"/>
          </a:xfrm>
          <a:prstGeom prst="roundRect">
            <a:avLst/>
          </a:prstGeom>
          <a:solidFill>
            <a:srgbClr val="ED7D31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config.json
(start/end year, paths, modules)</a:t>
            </a:r>
          </a:p>
        </p:txBody>
      </p:sp>
      <p:cxnSp>
        <p:nvCxnSpPr>
          <p:cNvPr id="13" name="Arrow 13"/>
          <p:cNvCxnSpPr/>
          <p:nvPr/>
        </p:nvCxnSpPr>
        <p:spPr>
          <a:xfrm flipH="1">
            <a:off x="11155680" y="1805940"/>
            <a:ext cx="1005840" cy="1"/>
          </a:xfrm>
          <a:prstGeom prst="line">
            <a:avLst/>
          </a:prstGeom>
          <a:ln w="19050">
            <a:solidFill>
              <a:srgbClr val="404040"/>
            </a:solidFill>
            <a:tailEnd type="arrow" w="med" len="med"/>
          </a:ln>
        </p:spPr>
      </p:cxnSp>
      <p:sp>
        <p:nvSpPr>
          <p:cNvPr id="14" name="Rounded Rectangle 13"/>
          <p:cNvSpPr/>
          <p:nvPr/>
        </p:nvSpPr>
        <p:spPr>
          <a:xfrm>
            <a:off x="6675120" y="2834640"/>
            <a:ext cx="4754880" cy="1463040"/>
          </a:xfrm>
          <a:prstGeom prst="round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landgen.py  ·  main(config_path)
Load config · start mp.Manager · create GridData
Loop modules → importlib.import_module(name).run()</a:t>
            </a:r>
          </a:p>
        </p:txBody>
      </p:sp>
      <p:cxnSp>
        <p:nvCxnSpPr>
          <p:cNvPr id="15" name="Arrow 15"/>
          <p:cNvCxnSpPr/>
          <p:nvPr/>
        </p:nvCxnSpPr>
        <p:spPr>
          <a:xfrm flipH="1">
            <a:off x="9052560" y="2240280"/>
            <a:ext cx="137160" cy="594360"/>
          </a:xfrm>
          <a:prstGeom prst="line">
            <a:avLst/>
          </a:prstGeom>
          <a:ln w="19050">
            <a:solidFill>
              <a:srgbClr val="404040"/>
            </a:solidFill>
            <a:tailEnd type="arrow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11887200" y="2834640"/>
            <a:ext cx="6035040" cy="1965960"/>
          </a:xfrm>
          <a:prstGeom prst="roundRect">
            <a:avLst/>
          </a:prstGeom>
          <a:solidFill>
            <a:srgbClr val="7B0EA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shared_data.py  –  Multiprocessing shared structures
GridData / GridManager  (cell ids, lon/lat, landfrac)
TopoData / TopoManager  (elevation, slope, fmax …)
LtData  / LtManager     (pct_pft, harvest_frac, …)</a:t>
            </a:r>
          </a:p>
        </p:txBody>
      </p:sp>
      <p:cxnSp>
        <p:nvCxnSpPr>
          <p:cNvPr id="17" name="Arrow 17"/>
          <p:cNvCxnSpPr/>
          <p:nvPr/>
        </p:nvCxnSpPr>
        <p:spPr>
          <a:xfrm>
            <a:off x="11430000" y="3566160"/>
            <a:ext cx="457200" cy="251460"/>
          </a:xfrm>
          <a:prstGeom prst="line">
            <a:avLst/>
          </a:prstGeom>
          <a:ln w="19050">
            <a:solidFill>
              <a:srgbClr val="404040"/>
            </a:solidFill>
            <a:tailEnd type="arrow" w="med" len="med"/>
          </a:ln>
        </p:spPr>
      </p:cxnSp>
      <p:sp>
        <p:nvSpPr>
          <p:cNvPr id="18" name="Rounded Rectangle 17"/>
          <p:cNvSpPr/>
          <p:nvPr/>
        </p:nvSpPr>
        <p:spPr>
          <a:xfrm>
            <a:off x="274320" y="5669280"/>
            <a:ext cx="3291840" cy="1143000"/>
          </a:xfrm>
          <a:prstGeom prst="roundRect">
            <a:avLst/>
          </a:prstGeom>
          <a:solidFill>
            <a:srgbClr val="70AD47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topography.py
run()
[must run first;
sets landfrac]</a:t>
            </a:r>
          </a:p>
        </p:txBody>
      </p:sp>
      <p:cxnSp>
        <p:nvCxnSpPr>
          <p:cNvPr id="19" name="Arrow 19"/>
          <p:cNvCxnSpPr/>
          <p:nvPr/>
        </p:nvCxnSpPr>
        <p:spPr>
          <a:xfrm flipH="1">
            <a:off x="1920240" y="4297680"/>
            <a:ext cx="7132320" cy="1371600"/>
          </a:xfrm>
          <a:prstGeom prst="line">
            <a:avLst/>
          </a:prstGeom>
          <a:ln w="19050">
            <a:solidFill>
              <a:srgbClr val="404040"/>
            </a:solidFill>
            <a:tailEnd type="arrow" w="med" len="med"/>
          </a:ln>
        </p:spPr>
      </p:cxnSp>
      <p:sp>
        <p:nvSpPr>
          <p:cNvPr id="20" name="Rounded Rectangle 19"/>
          <p:cNvSpPr/>
          <p:nvPr/>
        </p:nvSpPr>
        <p:spPr>
          <a:xfrm>
            <a:off x="3886200" y="5669280"/>
            <a:ext cx="3291840" cy="1143000"/>
          </a:xfrm>
          <a:prstGeom prst="roundRect">
            <a:avLst/>
          </a:prstGeom>
          <a:solidFill>
            <a:srgbClr val="70AD47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land_type.py
run()
[main land-type
orchestrator]</a:t>
            </a:r>
          </a:p>
        </p:txBody>
      </p:sp>
      <p:cxnSp>
        <p:nvCxnSpPr>
          <p:cNvPr id="21" name="Arrow 21"/>
          <p:cNvCxnSpPr/>
          <p:nvPr/>
        </p:nvCxnSpPr>
        <p:spPr>
          <a:xfrm flipH="1">
            <a:off x="5532120" y="4297680"/>
            <a:ext cx="3520440" cy="1371600"/>
          </a:xfrm>
          <a:prstGeom prst="line">
            <a:avLst/>
          </a:prstGeom>
          <a:ln w="19050">
            <a:solidFill>
              <a:srgbClr val="404040"/>
            </a:solidFill>
            <a:tailEnd type="arrow" w="med" len="med"/>
          </a:ln>
        </p:spPr>
      </p:cxnSp>
      <p:sp>
        <p:nvSpPr>
          <p:cNvPr id="22" name="Rounded Rectangle 21"/>
          <p:cNvSpPr/>
          <p:nvPr/>
        </p:nvSpPr>
        <p:spPr>
          <a:xfrm>
            <a:off x="7498080" y="5669280"/>
            <a:ext cx="3291840" cy="1143000"/>
          </a:xfrm>
          <a:prstGeom prst="roundRect">
            <a:avLst/>
          </a:prstGeom>
          <a:solidFill>
            <a:srgbClr val="70AD47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soil.py
run()</a:t>
            </a:r>
          </a:p>
        </p:txBody>
      </p:sp>
      <p:cxnSp>
        <p:nvCxnSpPr>
          <p:cNvPr id="23" name="Arrow 23"/>
          <p:cNvCxnSpPr/>
          <p:nvPr/>
        </p:nvCxnSpPr>
        <p:spPr>
          <a:xfrm>
            <a:off x="9052560" y="4297680"/>
            <a:ext cx="91440" cy="1371600"/>
          </a:xfrm>
          <a:prstGeom prst="line">
            <a:avLst/>
          </a:prstGeom>
          <a:ln w="19050">
            <a:solidFill>
              <a:srgbClr val="404040"/>
            </a:solidFill>
            <a:tailEnd type="arrow" w="med" len="med"/>
          </a:ln>
        </p:spPr>
      </p:cxnSp>
      <p:sp>
        <p:nvSpPr>
          <p:cNvPr id="24" name="Rounded Rectangle 23"/>
          <p:cNvSpPr/>
          <p:nvPr/>
        </p:nvSpPr>
        <p:spPr>
          <a:xfrm>
            <a:off x="11109960" y="5669280"/>
            <a:ext cx="3291840" cy="1143000"/>
          </a:xfrm>
          <a:prstGeom prst="roundRect">
            <a:avLst/>
          </a:prstGeom>
          <a:solidFill>
            <a:srgbClr val="70AD47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human.py
run()</a:t>
            </a:r>
          </a:p>
        </p:txBody>
      </p:sp>
      <p:cxnSp>
        <p:nvCxnSpPr>
          <p:cNvPr id="25" name="Arrow 25"/>
          <p:cNvCxnSpPr/>
          <p:nvPr/>
        </p:nvCxnSpPr>
        <p:spPr>
          <a:xfrm>
            <a:off x="9052560" y="4297680"/>
            <a:ext cx="3703320" cy="1371600"/>
          </a:xfrm>
          <a:prstGeom prst="line">
            <a:avLst/>
          </a:prstGeom>
          <a:ln w="19050">
            <a:solidFill>
              <a:srgbClr val="404040"/>
            </a:solidFill>
            <a:tailEnd type="arrow" w="med" len="med"/>
          </a:ln>
        </p:spPr>
      </p:cxnSp>
      <p:sp>
        <p:nvSpPr>
          <p:cNvPr id="26" name="Rounded Rectangle 25"/>
          <p:cNvSpPr/>
          <p:nvPr/>
        </p:nvSpPr>
        <p:spPr>
          <a:xfrm>
            <a:off x="14721840" y="5669280"/>
            <a:ext cx="3291840" cy="1143000"/>
          </a:xfrm>
          <a:prstGeom prst="roundRect">
            <a:avLst/>
          </a:prstGeom>
          <a:solidFill>
            <a:srgbClr val="70AD47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atmosphere.py
run()</a:t>
            </a:r>
          </a:p>
        </p:txBody>
      </p:sp>
      <p:cxnSp>
        <p:nvCxnSpPr>
          <p:cNvPr id="27" name="Arrow 27"/>
          <p:cNvCxnSpPr/>
          <p:nvPr/>
        </p:nvCxnSpPr>
        <p:spPr>
          <a:xfrm>
            <a:off x="9052560" y="4297680"/>
            <a:ext cx="7315200" cy="1371600"/>
          </a:xfrm>
          <a:prstGeom prst="line">
            <a:avLst/>
          </a:prstGeom>
          <a:ln w="19050">
            <a:solidFill>
              <a:srgbClr val="404040"/>
            </a:solidFill>
            <a:tailEnd type="arrow" w="med" len="med"/>
          </a:ln>
        </p:spPr>
      </p:cxnSp>
      <p:sp>
        <p:nvSpPr>
          <p:cNvPr id="28" name="Rounded Rectangle 27"/>
          <p:cNvSpPr/>
          <p:nvPr/>
        </p:nvSpPr>
        <p:spPr>
          <a:xfrm>
            <a:off x="3886200" y="7543800"/>
            <a:ext cx="3108960" cy="822960"/>
          </a:xfrm>
          <a:prstGeom prst="round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Loop years (start_year → end_year)
_process_single_year(year, …)</a:t>
            </a:r>
          </a:p>
        </p:txBody>
      </p:sp>
      <p:cxnSp>
        <p:nvCxnSpPr>
          <p:cNvPr id="29" name="Arrow 29"/>
          <p:cNvCxnSpPr/>
          <p:nvPr/>
        </p:nvCxnSpPr>
        <p:spPr>
          <a:xfrm>
            <a:off x="5440680" y="6812280"/>
            <a:ext cx="1" cy="731520"/>
          </a:xfrm>
          <a:prstGeom prst="line">
            <a:avLst/>
          </a:prstGeom>
          <a:ln w="19050">
            <a:solidFill>
              <a:srgbClr val="404040"/>
            </a:solidFill>
            <a:tailEnd type="arrow" w="med" len="med"/>
          </a:ln>
        </p:spPr>
      </p:cxnSp>
      <p:sp>
        <p:nvSpPr>
          <p:cNvPr id="30" name="Rounded Rectangle 29"/>
          <p:cNvSpPr/>
          <p:nvPr/>
        </p:nvSpPr>
        <p:spPr>
          <a:xfrm>
            <a:off x="2253999" y="9098280"/>
            <a:ext cx="1874519" cy="914400"/>
          </a:xfrm>
          <a:prstGeom prst="roundRect">
            <a:avLst/>
          </a:prstGeom>
          <a:solidFill>
            <a:srgbClr val="FFC00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landcover.py
run() [parallel]</a:t>
            </a:r>
          </a:p>
        </p:txBody>
      </p:sp>
      <p:cxnSp>
        <p:nvCxnSpPr>
          <p:cNvPr id="31" name="Arrow 31"/>
          <p:cNvCxnSpPr/>
          <p:nvPr/>
        </p:nvCxnSpPr>
        <p:spPr>
          <a:xfrm flipH="1">
            <a:off x="3191259" y="8366760"/>
            <a:ext cx="2249421" cy="731520"/>
          </a:xfrm>
          <a:prstGeom prst="line">
            <a:avLst/>
          </a:prstGeom>
          <a:ln w="19050">
            <a:solidFill>
              <a:srgbClr val="404040"/>
            </a:solidFill>
            <a:tailEnd type="arrow" w="med" len="med"/>
          </a:ln>
        </p:spPr>
      </p:cxnSp>
      <p:sp>
        <p:nvSpPr>
          <p:cNvPr id="32" name="Rounded Rectangle 31"/>
          <p:cNvSpPr/>
          <p:nvPr/>
        </p:nvSpPr>
        <p:spPr>
          <a:xfrm>
            <a:off x="4238246" y="9098280"/>
            <a:ext cx="1874519" cy="914400"/>
          </a:xfrm>
          <a:prstGeom prst="roundRect">
            <a:avLst/>
          </a:prstGeom>
          <a:solidFill>
            <a:srgbClr val="A5A5A5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crop.py
run()
[not yet impl.]</a:t>
            </a:r>
          </a:p>
        </p:txBody>
      </p:sp>
      <p:cxnSp>
        <p:nvCxnSpPr>
          <p:cNvPr id="33" name="Arrow 33"/>
          <p:cNvCxnSpPr/>
          <p:nvPr/>
        </p:nvCxnSpPr>
        <p:spPr>
          <a:xfrm flipH="1">
            <a:off x="5175506" y="8366760"/>
            <a:ext cx="265174" cy="731520"/>
          </a:xfrm>
          <a:prstGeom prst="line">
            <a:avLst/>
          </a:prstGeom>
          <a:ln w="19050">
            <a:solidFill>
              <a:srgbClr val="404040"/>
            </a:solidFill>
            <a:tailEnd type="arrow" w="med" len="med"/>
          </a:ln>
        </p:spPr>
      </p:cxnSp>
      <p:sp>
        <p:nvSpPr>
          <p:cNvPr id="34" name="Rounded Rectangle 33"/>
          <p:cNvSpPr/>
          <p:nvPr/>
        </p:nvSpPr>
        <p:spPr>
          <a:xfrm>
            <a:off x="6222493" y="9098280"/>
            <a:ext cx="1874519" cy="914400"/>
          </a:xfrm>
          <a:prstGeom prst="roundRect">
            <a:avLst/>
          </a:prstGeom>
          <a:solidFill>
            <a:srgbClr val="A5A5A5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urban.py
run()
[not yet impl.]</a:t>
            </a:r>
          </a:p>
        </p:txBody>
      </p:sp>
      <p:cxnSp>
        <p:nvCxnSpPr>
          <p:cNvPr id="35" name="Arrow 35"/>
          <p:cNvCxnSpPr/>
          <p:nvPr/>
        </p:nvCxnSpPr>
        <p:spPr>
          <a:xfrm>
            <a:off x="5440680" y="8366760"/>
            <a:ext cx="1719073" cy="731520"/>
          </a:xfrm>
          <a:prstGeom prst="line">
            <a:avLst/>
          </a:prstGeom>
          <a:ln w="19050">
            <a:solidFill>
              <a:srgbClr val="404040"/>
            </a:solidFill>
            <a:tailEnd type="arrow" w="med" len="med"/>
          </a:ln>
        </p:spPr>
      </p:cxnSp>
      <p:sp>
        <p:nvSpPr>
          <p:cNvPr id="36" name="Rounded Rectangle 35"/>
          <p:cNvSpPr/>
          <p:nvPr/>
        </p:nvSpPr>
        <p:spPr>
          <a:xfrm>
            <a:off x="8206740" y="9098280"/>
            <a:ext cx="1874519" cy="914400"/>
          </a:xfrm>
          <a:prstGeom prst="roundRect">
            <a:avLst/>
          </a:prstGeom>
          <a:solidFill>
            <a:srgbClr val="A5A5A5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lake.py
run()
[not yet impl.]</a:t>
            </a:r>
          </a:p>
        </p:txBody>
      </p:sp>
      <p:cxnSp>
        <p:nvCxnSpPr>
          <p:cNvPr id="37" name="Arrow 37"/>
          <p:cNvCxnSpPr/>
          <p:nvPr/>
        </p:nvCxnSpPr>
        <p:spPr>
          <a:xfrm>
            <a:off x="5440680" y="8366760"/>
            <a:ext cx="3703320" cy="731520"/>
          </a:xfrm>
          <a:prstGeom prst="line">
            <a:avLst/>
          </a:prstGeom>
          <a:ln w="19050">
            <a:solidFill>
              <a:srgbClr val="404040"/>
            </a:solidFill>
            <a:tailEnd type="arrow" w="med" len="med"/>
          </a:ln>
        </p:spPr>
      </p:cxnSp>
      <p:sp>
        <p:nvSpPr>
          <p:cNvPr id="38" name="Rounded Rectangle 37"/>
          <p:cNvSpPr/>
          <p:nvPr/>
        </p:nvSpPr>
        <p:spPr>
          <a:xfrm>
            <a:off x="10190987" y="9098280"/>
            <a:ext cx="1874519" cy="914400"/>
          </a:xfrm>
          <a:prstGeom prst="roundRect">
            <a:avLst/>
          </a:prstGeom>
          <a:solidFill>
            <a:srgbClr val="A5A5A5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ice.py
run()
[not yet impl.]</a:t>
            </a:r>
          </a:p>
        </p:txBody>
      </p:sp>
      <p:cxnSp>
        <p:nvCxnSpPr>
          <p:cNvPr id="39" name="Arrow 39"/>
          <p:cNvCxnSpPr/>
          <p:nvPr/>
        </p:nvCxnSpPr>
        <p:spPr>
          <a:xfrm>
            <a:off x="5440680" y="8366760"/>
            <a:ext cx="5687567" cy="731520"/>
          </a:xfrm>
          <a:prstGeom prst="line">
            <a:avLst/>
          </a:prstGeom>
          <a:ln w="19050">
            <a:solidFill>
              <a:srgbClr val="404040"/>
            </a:solidFill>
            <a:tailEnd type="arrow" w="med" len="med"/>
          </a:ln>
        </p:spPr>
      </p:cxnSp>
      <p:sp>
        <p:nvSpPr>
          <p:cNvPr id="40" name="Rounded Rectangle 39"/>
          <p:cNvSpPr/>
          <p:nvPr/>
        </p:nvSpPr>
        <p:spPr>
          <a:xfrm>
            <a:off x="12175234" y="9098280"/>
            <a:ext cx="1874519" cy="914400"/>
          </a:xfrm>
          <a:prstGeom prst="roundRect">
            <a:avLst/>
          </a:prstGeom>
          <a:solidFill>
            <a:srgbClr val="FFC00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harvest.py
run() [parallel]</a:t>
            </a:r>
          </a:p>
        </p:txBody>
      </p:sp>
      <p:cxnSp>
        <p:nvCxnSpPr>
          <p:cNvPr id="41" name="Arrow 41"/>
          <p:cNvCxnSpPr/>
          <p:nvPr/>
        </p:nvCxnSpPr>
        <p:spPr>
          <a:xfrm>
            <a:off x="5440680" y="8366760"/>
            <a:ext cx="7671814" cy="731520"/>
          </a:xfrm>
          <a:prstGeom prst="line">
            <a:avLst/>
          </a:prstGeom>
          <a:ln w="19050">
            <a:solidFill>
              <a:srgbClr val="404040"/>
            </a:solidFill>
            <a:tailEnd type="arrow" w="med" len="med"/>
          </a:ln>
        </p:spPr>
      </p:cxnSp>
      <p:sp>
        <p:nvSpPr>
          <p:cNvPr id="42" name="Rounded Rectangle 41"/>
          <p:cNvSpPr/>
          <p:nvPr/>
        </p:nvSpPr>
        <p:spPr>
          <a:xfrm>
            <a:off x="14159481" y="9098280"/>
            <a:ext cx="1874519" cy="914400"/>
          </a:xfrm>
          <a:prstGeom prst="roundRect">
            <a:avLst/>
          </a:prstGeom>
          <a:solidFill>
            <a:srgbClr val="A5A5A5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veg_assoc.py
run()
[not yet impl.]</a:t>
            </a:r>
          </a:p>
        </p:txBody>
      </p:sp>
      <p:cxnSp>
        <p:nvCxnSpPr>
          <p:cNvPr id="43" name="Arrow 43"/>
          <p:cNvCxnSpPr/>
          <p:nvPr/>
        </p:nvCxnSpPr>
        <p:spPr>
          <a:xfrm>
            <a:off x="5440680" y="8366760"/>
            <a:ext cx="9656061" cy="731520"/>
          </a:xfrm>
          <a:prstGeom prst="line">
            <a:avLst/>
          </a:prstGeom>
          <a:ln w="19050">
            <a:solidFill>
              <a:srgbClr val="404040"/>
            </a:solidFill>
            <a:tailEnd type="arrow" w="med" len="med"/>
          </a:ln>
        </p:spPr>
      </p:cxnSp>
      <p:sp>
        <p:nvSpPr>
          <p:cNvPr id="44" name="Rounded Rectangle 43"/>
          <p:cNvSpPr/>
          <p:nvPr/>
        </p:nvSpPr>
        <p:spPr>
          <a:xfrm>
            <a:off x="3589020" y="10515600"/>
            <a:ext cx="5394960" cy="2487168"/>
          </a:xfrm>
          <a:prstGeom prst="roundRect">
            <a:avLst/>
          </a:prstGeom>
          <a:solidFill>
            <a:srgbClr val="C0504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landcover_process()
· tools.init_worker_logging()
· tools.redirect_uraster_logs()
· landgen_io.write_mesh_to_geojson()
· lc_rs.use_lc_rs()
· lc_rs.read_to_geotiff()
· landgen_io.regrid_to_mesh()</a:t>
            </a:r>
          </a:p>
        </p:txBody>
      </p:sp>
      <p:cxnSp>
        <p:nvCxnSpPr>
          <p:cNvPr id="45" name="Arrow 45"/>
          <p:cNvCxnSpPr/>
          <p:nvPr/>
        </p:nvCxnSpPr>
        <p:spPr>
          <a:xfrm>
            <a:off x="3191259" y="10012680"/>
            <a:ext cx="3095241" cy="502920"/>
          </a:xfrm>
          <a:prstGeom prst="line">
            <a:avLst/>
          </a:prstGeom>
          <a:ln w="19050">
            <a:solidFill>
              <a:srgbClr val="404040"/>
            </a:solidFill>
            <a:tailEnd type="arrow" w="med" len="med"/>
          </a:ln>
        </p:spPr>
      </p:cxnSp>
      <p:sp>
        <p:nvSpPr>
          <p:cNvPr id="46" name="Rounded Rectangle 45"/>
          <p:cNvSpPr/>
          <p:nvPr/>
        </p:nvSpPr>
        <p:spPr>
          <a:xfrm>
            <a:off x="9304020" y="10515600"/>
            <a:ext cx="5394960" cy="2487168"/>
          </a:xfrm>
          <a:prstGeom prst="roundRect">
            <a:avLst/>
          </a:prstGeom>
          <a:solidFill>
            <a:srgbClr val="C0504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harvest_process()
· landgen_io.read_luh2_harvest()
· landgen_io.read_hyde_grazing()
· landgen_io.regrid_to_landgen_grid()</a:t>
            </a:r>
          </a:p>
        </p:txBody>
      </p:sp>
      <p:cxnSp>
        <p:nvCxnSpPr>
          <p:cNvPr id="47" name="Arrow 47"/>
          <p:cNvCxnSpPr/>
          <p:nvPr/>
        </p:nvCxnSpPr>
        <p:spPr>
          <a:xfrm flipH="1">
            <a:off x="12001500" y="10012680"/>
            <a:ext cx="1110994" cy="502920"/>
          </a:xfrm>
          <a:prstGeom prst="line">
            <a:avLst/>
          </a:prstGeom>
          <a:ln w="19050">
            <a:solidFill>
              <a:srgbClr val="404040"/>
            </a:solidFill>
            <a:tailEnd type="arrow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792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ED7D31"/>
                </a:solidFill>
              </a:rPr>
              <a:t>landgen_io.py – Function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94360"/>
            <a:ext cx="17556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000000"/>
                </a:solidFill>
              </a:rPr>
              <a:t>Auto-parsed from src/landgen/landgen_io.py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8595360" cy="1133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set_decomp_cell_idx_ll_limits()  –  Populate chunk_indices and chunk_ll_limits in-place from the domain NetCDF.</a:t>
            </a:r>
          </a:p>
          <a:p>
            <a:pPr/>
            <a:r>
              <a:rPr sz="1800"/>
              <a:t>load_mesh_nc()  –  Load HEALPix mesh data from a NetCDF domain file.</a:t>
            </a:r>
          </a:p>
          <a:p>
            <a:pPr/>
            <a:r>
              <a:rPr sz="1800"/>
              <a:t>calc_ll_limits()  –  Calculate and return a list of tuples (min_lat, max_lat, min_lon, max_lon)</a:t>
            </a:r>
          </a:p>
          <a:p>
            <a:pPr/>
            <a:r>
              <a:rPr sz="1800"/>
              <a:t>get_modis_tile_idxs_ll()  –  Get the MODIS tile indices for a lat/lon bounding box.</a:t>
            </a:r>
          </a:p>
          <a:p>
            <a:pPr/>
            <a:r>
              <a:rPr sz="1800"/>
              <a:t>get_sds_string()  –  Scans HDF subdatasets and returns a pyModis SDS string.</a:t>
            </a:r>
          </a:p>
          <a:p>
            <a:pPr/>
            <a:r>
              <a:rPr sz="1800"/>
              <a:t>read_modis_ll_to_geotiff()  –  Download MODIS HDF tiles for a given year, mosaic them, and convert each</a:t>
            </a:r>
          </a:p>
          <a:p>
            <a:pPr/>
            <a:r>
              <a:rPr sz="1800"/>
              <a:t>read_netcdf_ll()  –  Read variables from a NetCDF file for a given year.</a:t>
            </a:r>
          </a:p>
          <a:p>
            <a:pPr/>
            <a:r>
              <a:rPr sz="1800"/>
              <a:t>read_luh2_harvest()  –  Read LUH2 harvest variables for a given 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005840"/>
            <a:ext cx="8595360" cy="1133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read_hyde_grazing()  –  Read HYDE3.5 grazing data for a given year.</a:t>
            </a:r>
          </a:p>
          <a:p>
            <a:pPr/>
            <a:r>
              <a:rPr sz="1800"/>
              <a:t>write_latlon_to_geotiff()  –  Slice a 2D (lat, lon) source array to a lat-lon bounding box and write</a:t>
            </a:r>
          </a:p>
          <a:p>
            <a:pPr/>
            <a:r>
              <a:rPr sz="1800"/>
              <a:t>write_mesh_to_geojson()  –  Write mesh cells from a GridData object to a GeoJSON file.</a:t>
            </a:r>
          </a:p>
          <a:p>
            <a:pPr/>
            <a:r>
              <a:rPr sz="1800"/>
              <a:t>write_chunk_mesh_to_geojson()  –  Filter the global HEALPix mesh DataFrame to only the cells in cell_ids</a:t>
            </a:r>
          </a:p>
          <a:p>
            <a:pPr/>
            <a:r>
              <a:rPr sz="1800"/>
              <a:t>regrid_to_landgen_grid()  –  Regrid a single 2D source variable onto the landgen HEALPix grid cells</a:t>
            </a:r>
          </a:p>
          <a:p>
            <a:pPr/>
            <a:r>
              <a:rPr sz="1800"/>
              <a:t>regrid_to_mesh()  –  Regrid a single raster variable onto the landgen mesh cells for one chunk,</a:t>
            </a:r>
          </a:p>
          <a:p>
            <a:pPr/>
            <a:r>
              <a:rPr sz="1800"/>
              <a:t>write_module_netcdf()  –  Write a NetCDF file containing grid geometry from out_grid_data plus</a:t>
            </a:r>
          </a:p>
          <a:p>
            <a:pPr/>
            <a:r>
              <a:rPr sz="1800"/>
              <a:t>get_chunk_cell_ids()  –  Determine the landgen grid cell ids that intersect each lat-lon chunk.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792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2E75B6"/>
                </a:solidFill>
              </a:rPr>
              <a:t>tools.py – Function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94360"/>
            <a:ext cx="17556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000000"/>
                </a:solidFill>
              </a:rPr>
              <a:t>Auto-parsed from src/landgen/tools.py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8595360" cy="1133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setup_logger()  –  Configure a named logger to write to log_path and to stdout.</a:t>
            </a:r>
          </a:p>
          <a:p>
            <a:pPr/>
            <a:r>
              <a:rPr sz="1800"/>
              <a:t>init_worker_logging()  –  Attach a FileHandler (append mode) to the named logger inside a worker</a:t>
            </a:r>
          </a:p>
          <a:p>
            <a:pPr/>
            <a:r>
              <a:rPr sz="1800"/>
              <a:t>redirect_uraster_logs()  –  Redirect uraster's auto-created log files from the process CWD to out_path.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005840"/>
            <a:ext cx="8595360" cy="1133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parse_cpu_env()  –  Return the integer value of an environment variable, or None if unset or</a:t>
            </a:r>
          </a:p>
          <a:p>
            <a:pPr/>
            <a:r>
              <a:rPr sz="1800"/>
              <a:t>monitor_cluster_resources()  –  Periodically logs aggregated CPU and memory usage of the entire process tree.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792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1F497D"/>
                </a:solidFill>
              </a:rPr>
              <a:t>plot_landgen.py – Function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94360"/>
            <a:ext cx="17556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000000"/>
                </a:solidFill>
              </a:rPr>
              <a:t>Auto-parsed from src/landgen/plot_landgen.py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8595360" cy="1133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plot_module_netcdf()  –  Plot one or more variables from a NetCDF file written by landgen.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005840"/>
            <a:ext cx="8595360" cy="1133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main()  –  CLI entry point for standalone plotting.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